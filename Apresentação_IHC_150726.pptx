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7"/>
  </p:normalViewPr>
  <p:slideViewPr>
    <p:cSldViewPr snapToGrid="0">
      <p:cViewPr varScale="1">
        <p:scale>
          <a:sx n="112" d="100"/>
          <a:sy n="112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abioferreiradeassis/Downloads/graficos_pergunta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Gráfico das Respostas da Pergunta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Planilha1!$C$21:$D$21</c:f>
              <c:strCache>
                <c:ptCount val="2"/>
                <c:pt idx="0">
                  <c:v>Não Favoráveis</c:v>
                </c:pt>
                <c:pt idx="1">
                  <c:v>Favoráveis</c:v>
                </c:pt>
              </c:strCache>
            </c:strRef>
          </c:cat>
          <c:val>
            <c:numRef>
              <c:f>Planilha1!$C$22:$D$22</c:f>
              <c:numCache>
                <c:formatCode>General</c:formatCod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08-5E48-87AC-1B57885379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6338303"/>
        <c:axId val="1546340095"/>
      </c:barChart>
      <c:catAx>
        <c:axId val="1546338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46340095"/>
        <c:crosses val="autoZero"/>
        <c:auto val="1"/>
        <c:lblAlgn val="ctr"/>
        <c:lblOffset val="100"/>
        <c:noMultiLvlLbl val="0"/>
      </c:catAx>
      <c:valAx>
        <c:axId val="1546340095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463383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FEB2F-C8C3-4B30-C1AE-221D28428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698DB0-E61B-CDE0-A61B-83785B762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2F6079-2DD3-260B-1FDA-E0A1F466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E3FC48-B09A-81CC-38D9-35FDB175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648AD6-7BE5-B936-97BA-6102D243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2978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55F16-61F9-7782-AB6D-28CE7466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A6C68C-FB1C-52E8-EFB3-BE933343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3B5239-A86B-543F-D92D-F22F306A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5BFBFC-DE48-4AC9-A33C-B4767417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264F13-B19F-0006-D0A6-A8A711CF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153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89151-3524-9200-0128-905CA9AC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8CF998-2128-62FD-D28B-B8C146E9F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C138B8-30CE-92A4-0E12-D12C55A17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EAB5F0-8034-D66E-DFD3-E63D197B0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1909A0-E49F-F8FE-87FA-1E41EE393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2877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9E585-AB7B-0253-31E8-6410797B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AE799F-8988-250C-552F-DB2061FCB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06085A-D819-8892-7043-7554587BB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80197E-D986-F2C4-FD58-679560A6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9A5E22-4607-3A91-8489-37E76CCC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BB8B8D-9072-8410-FB3C-E6A6D907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6471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AEAC4-A7A9-D4C8-27B4-21C0B40B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6C0322-F43A-478D-8EF7-8ECA88244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1A9933-10BF-EF42-3215-8CFC77E63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4421398-A868-3775-34DC-A47A984C4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15CAB6-F4E7-4DB2-C017-81F428BD8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F163AC-0D9C-8BB7-0498-AA2B64F62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1EB9BC-0170-FC3E-C7C5-262531F8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BE36B29-30CE-E2B5-419F-67E761DC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366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8EF8F-38EC-D6D3-BC29-D985B6FC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B0AF999-4354-A6BF-D3AA-A74F672D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F45EE2-BEAE-2138-2032-D1265C748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207346-C077-D73C-7E32-86241E4D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101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A37786-5612-3BBC-89D2-5C835F8F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21B521-817E-3BDC-C5F9-75B9042BC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C4A278-B888-587B-F69B-31BFC931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9191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42403-413F-6FC1-6E4F-E0B80A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70F1E8-30AD-6319-CB19-D7BE212B0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61BBA4-09C6-6072-554D-6957EEC0B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B579D0-4290-B1ED-B119-D8CB2337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382FF1-5011-49EE-9284-9729F56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536178-6F8D-B8D9-A8DE-933CD19D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9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CEA83-023D-D545-260D-BE77281E7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CDFB4F-B4E8-08C0-2BA8-C41F63C7D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816A68-7D41-8E18-EC48-09CA836D8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7CB55C-3F85-131D-2A2F-6A7BD2C5E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155EF3-8D4B-49E5-04C0-747D722B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9CD181-F8AE-359D-2660-100A3D28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486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07976-710C-0F0A-054E-D87B6C26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AD428C-1B8D-B577-0F23-EBE1BA373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360D91-24E6-DB5C-9057-7053FE59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7EEE83-1013-14E5-D30E-035F47DD0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57EC53-4064-EE25-CC4B-1EF1E55B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3F24D9-D86D-9F8B-3DBB-06F63166C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9601F4-546C-082C-0A6E-DA0935034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8D43FB-8006-68C3-864C-AB4EBC8C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B4B654-4303-F135-2676-DF6416FC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B5727D-0FEA-29F2-AD59-784ED877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974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40B3F5-384F-A89D-C72C-2824249B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CF2F4F-7462-D225-0340-2622E8AEE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C48E8B-80A4-1D01-B1D9-F1F7EC3C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4EA52-E0E8-EB4A-8C5C-B96B4DA80A9E}" type="datetimeFigureOut">
              <a:rPr lang="pt-BR" smtClean="0"/>
              <a:t>15/07/2026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6D482-5F31-1009-4030-B0C2A8921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F6D71C-BA9F-2EBD-9206-0457C8CC0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4A9E3-1EE0-E04A-9B43-61B759CB420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136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115645A-957C-3A1B-9236-CC1793EE6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35622"/>
          </a:xfrm>
        </p:spPr>
        <p:txBody>
          <a:bodyPr>
            <a:normAutofit/>
          </a:bodyPr>
          <a:lstStyle/>
          <a:p>
            <a:r>
              <a:rPr lang="pt-BR" sz="3200" b="1" dirty="0"/>
              <a:t>Universidade Federal do ABC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74080DA-8B09-5CF3-4740-DDEA2D8080CD}"/>
              </a:ext>
            </a:extLst>
          </p:cNvPr>
          <p:cNvSpPr txBox="1"/>
          <p:nvPr/>
        </p:nvSpPr>
        <p:spPr>
          <a:xfrm>
            <a:off x="137160" y="2023110"/>
            <a:ext cx="119214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Pós-graduação em Ciência da Computação</a:t>
            </a:r>
          </a:p>
          <a:p>
            <a:r>
              <a:rPr lang="pt-BR" sz="2400" dirty="0"/>
              <a:t>Disciplina: Interação Humano Computador TURMA 2026.Q2</a:t>
            </a:r>
          </a:p>
          <a:p>
            <a:r>
              <a:rPr lang="pt-BR" sz="2400" dirty="0"/>
              <a:t>Professora: Dra. Carla Lopes Rodriguez</a:t>
            </a:r>
          </a:p>
          <a:p>
            <a:endParaRPr lang="pt-BR" sz="2400" dirty="0"/>
          </a:p>
          <a:p>
            <a:r>
              <a:rPr lang="pt-BR" sz="2400" b="1" dirty="0"/>
              <a:t>Projeto Grandes Desafios em IHC (2025-2035) (Desafio 2 - Ética e responsabilidade)</a:t>
            </a:r>
          </a:p>
          <a:p>
            <a:endParaRPr lang="pt-BR" sz="2400" dirty="0"/>
          </a:p>
          <a:p>
            <a:r>
              <a:rPr lang="pt-BR" dirty="0"/>
              <a:t>Alunos:</a:t>
            </a:r>
          </a:p>
          <a:p>
            <a:r>
              <a:rPr lang="pt-BR" dirty="0"/>
              <a:t>Fabio Ferreira de Assis</a:t>
            </a:r>
          </a:p>
          <a:p>
            <a:r>
              <a:rPr lang="pt-BR" dirty="0"/>
              <a:t>Karhyne Sousa Padilha de Assis</a:t>
            </a:r>
          </a:p>
          <a:p>
            <a:r>
              <a:rPr lang="pt-BR" dirty="0"/>
              <a:t>Lazaro Vinicius Almeida Dos Santos</a:t>
            </a:r>
          </a:p>
        </p:txBody>
      </p:sp>
      <p:pic>
        <p:nvPicPr>
          <p:cNvPr id="8" name="image4.jpg">
            <a:extLst>
              <a:ext uri="{FF2B5EF4-FFF2-40B4-BE49-F238E27FC236}">
                <a16:creationId xmlns:a16="http://schemas.microsoft.com/office/drawing/2014/main" id="{82CAC0F7-A092-6AF7-04C8-B83757CE449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17221" y="223054"/>
            <a:ext cx="1497329" cy="115409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63798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D72D-238F-6CF7-A868-0A48F9440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07A511C-331A-F839-08A6-F83248ECC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AGENDA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866BAA-7633-F1B1-43E8-68844E21B490}"/>
              </a:ext>
            </a:extLst>
          </p:cNvPr>
          <p:cNvSpPr txBox="1"/>
          <p:nvPr/>
        </p:nvSpPr>
        <p:spPr>
          <a:xfrm>
            <a:off x="137160" y="1026468"/>
            <a:ext cx="119214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Apresentação do grupo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Contextualização/descrição do tema (área) e do sistema interativo escolhido (destacar qual (quais) dos Grandes Desafios de Pesquisa em IHC estão contemplando)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Análise PACT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Estilos de interação documentados e as habilidades de percepção e navegação identificados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Levantamento de requisitos (técnicas de coleta de dados definidas e instrumentos elaborados)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Resultados da coleta de dados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Perfil do usuário, personas</a:t>
            </a:r>
          </a:p>
        </p:txBody>
      </p:sp>
    </p:spTree>
    <p:extLst>
      <p:ext uri="{BB962C8B-B14F-4D97-AF65-F5344CB8AC3E}">
        <p14:creationId xmlns:p14="http://schemas.microsoft.com/office/powerpoint/2010/main" val="1463808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C0BE6-B183-CAE7-A770-1DD005ED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055D965-2FB3-2672-9468-2FBCE2FC5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APRESENTAÇÃO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D0764E-3DAC-2BD5-B263-D81414B9FB17}"/>
              </a:ext>
            </a:extLst>
          </p:cNvPr>
          <p:cNvSpPr txBox="1"/>
          <p:nvPr/>
        </p:nvSpPr>
        <p:spPr>
          <a:xfrm>
            <a:off x="137160" y="1026468"/>
            <a:ext cx="119214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Apresentação do grupo:</a:t>
            </a:r>
          </a:p>
          <a:p>
            <a:pPr algn="just"/>
            <a:r>
              <a:rPr lang="pt-BR" sz="2400" dirty="0"/>
              <a:t>Alunos: </a:t>
            </a:r>
          </a:p>
          <a:p>
            <a:pPr algn="just"/>
            <a:r>
              <a:rPr lang="pt-BR" sz="2400" dirty="0"/>
              <a:t>Fabio Ferreira de Assis</a:t>
            </a:r>
          </a:p>
          <a:p>
            <a:pPr algn="just"/>
            <a:r>
              <a:rPr lang="pt-BR" sz="2400" dirty="0"/>
              <a:t>Karhyne Sousa Padilha de Assis</a:t>
            </a:r>
          </a:p>
          <a:p>
            <a:pPr algn="just"/>
            <a:r>
              <a:rPr lang="pt-BR" sz="2400" dirty="0"/>
              <a:t>Lazaro Vinicius Almeida Dos Santos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Contextualização/descrição do tema:</a:t>
            </a:r>
          </a:p>
          <a:p>
            <a:pPr algn="just"/>
            <a:r>
              <a:rPr lang="pt-BR" sz="2400" dirty="0"/>
              <a:t>Projeto Grandes Desafios em IHC (2025-2035) (Desafio 2 - Ética e responsabilidade).</a:t>
            </a:r>
          </a:p>
          <a:p>
            <a:pPr algn="just"/>
            <a:r>
              <a:rPr lang="pt-BR" sz="2400" dirty="0"/>
              <a:t>Sistema MCI (Model Capability </a:t>
            </a:r>
            <a:r>
              <a:rPr lang="pt-BR" sz="2400"/>
              <a:t>Initiative</a:t>
            </a:r>
            <a:r>
              <a:rPr lang="pt-BR" sz="2400" dirty="0"/>
              <a:t>): Aspectos Éticos, Transparência e Responsabilidade em IHC.</a:t>
            </a:r>
          </a:p>
        </p:txBody>
      </p:sp>
    </p:spTree>
    <p:extLst>
      <p:ext uri="{BB962C8B-B14F-4D97-AF65-F5344CB8AC3E}">
        <p14:creationId xmlns:p14="http://schemas.microsoft.com/office/powerpoint/2010/main" val="41318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EA4D5-9A60-29E5-9817-F5765B54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44F2091-E54F-0F01-768C-307018A95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RESUMO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A0900C-DBDB-485A-CCD1-53ED8FA723BB}"/>
              </a:ext>
            </a:extLst>
          </p:cNvPr>
          <p:cNvSpPr txBox="1"/>
          <p:nvPr/>
        </p:nvSpPr>
        <p:spPr>
          <a:xfrm>
            <a:off x="137160" y="1026468"/>
            <a:ext cx="1192149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Neste trabalho, analisamos os impactos do sistema Model Capability </a:t>
            </a:r>
            <a:r>
              <a:rPr lang="pt-BR" sz="2400"/>
              <a:t>Initiative</a:t>
            </a:r>
            <a:r>
              <a:rPr lang="pt-BR" sz="2400" dirty="0"/>
              <a:t> (MCI) sobre os funcionários da Meta, uma ferramenta interna desenvolvida pela empresa destinada à coleta de dados comportamentais dos colaboradores durante a execução de suas atividades profissionais.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foco da análise não está apenas na tecnologia utilizada, mas, principalmente, nos impactos éticos do uso do sistema sob a perspectiva da ética e da responsabilidade, um dos grandes desafios em IHC (2025–2035).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 utilização desse tipo de tecnologia desperta importantes discussões sobre os limites do monitoramento no ambiente de trabalho. </a:t>
            </a:r>
          </a:p>
        </p:txBody>
      </p:sp>
    </p:spTree>
    <p:extLst>
      <p:ext uri="{BB962C8B-B14F-4D97-AF65-F5344CB8AC3E}">
        <p14:creationId xmlns:p14="http://schemas.microsoft.com/office/powerpoint/2010/main" val="275066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93017-468A-02DE-EBA1-3E702E65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F9E7B21-0504-D929-396B-D92CA017A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Análise PACT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441F84-E3A1-E33A-879C-E47B46CF8B89}"/>
              </a:ext>
            </a:extLst>
          </p:cNvPr>
          <p:cNvSpPr txBox="1"/>
          <p:nvPr/>
        </p:nvSpPr>
        <p:spPr>
          <a:xfrm>
            <a:off x="137160" y="1026468"/>
            <a:ext cx="119214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Utilizamos o framework PACT (Pessoas, Atividades, Contexto e Tecnologias), amplamente empregado na área de Interação Humano-Computador, para analisar os impactos do sistema MCI sobre os funcionários da Meta.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Buscamos compreender como os elementos do framework se relacionam e de que forma esse tipo de tecnologia pode influenciar a experiência dos usuários, as condições de trabalho e a responsabilidade organizacional.</a:t>
            </a:r>
          </a:p>
        </p:txBody>
      </p:sp>
    </p:spTree>
    <p:extLst>
      <p:ext uri="{BB962C8B-B14F-4D97-AF65-F5344CB8AC3E}">
        <p14:creationId xmlns:p14="http://schemas.microsoft.com/office/powerpoint/2010/main" val="416560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C4B09-ACF2-BA2D-E9E3-5947C30F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F6040B8-387A-E315-751F-5B6F95395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Análise PACT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1127533-5794-912B-6BCB-014171F9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883138"/>
            <a:ext cx="7772400" cy="37201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CF13DCE-0EC8-C7E9-86BF-C3858A1BE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390" y="4529156"/>
            <a:ext cx="7772400" cy="23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9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C6E6-0EC1-AE29-AD71-90FBC582C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427FA93C-83B6-B2DE-59F5-6A20F43DF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Análise PACT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64E708F-207D-2AE0-B3A4-EF1E511AB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22991"/>
            <a:ext cx="7772400" cy="421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4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F3E41-733D-E8F3-88F2-34EC703A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E8500FC-63AC-E99C-6DDC-1A7B71B00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INSTRUMENTOS DE COLETA DE DADOS QUESTIONÁRIO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6519C8-19CA-BC0E-C4FE-6EE50ADC0A25}"/>
              </a:ext>
            </a:extLst>
          </p:cNvPr>
          <p:cNvSpPr txBox="1"/>
          <p:nvPr/>
        </p:nvSpPr>
        <p:spPr>
          <a:xfrm>
            <a:off x="137160" y="1028968"/>
            <a:ext cx="119214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Para a realização desta pesquisa, serão utilizados dois instrumentos de coleta de dados: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dirty="0"/>
              <a:t>questionário estruturado;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dirty="0"/>
              <a:t>entrevista semiestruturada</a:t>
            </a:r>
            <a:r>
              <a:rPr lang="pt-BR" sz="2400" dirty="0"/>
              <a:t>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 escolha desses instrumentos tem como objetivo obter informações tanto quantitativas quanto qualitativas sobre a percepção dos participantes em relação ao monitoramento de atividades no ambiente de trabalho por meio de sistemas semelhantes ao Model Capability </a:t>
            </a:r>
            <a:r>
              <a:rPr lang="pt-BR" sz="2400"/>
              <a:t>Initiative</a:t>
            </a:r>
            <a:r>
              <a:rPr lang="pt-BR" sz="2400" dirty="0"/>
              <a:t> (MCI).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Perfil dos participantes:</a:t>
            </a:r>
          </a:p>
          <a:p>
            <a:pPr algn="just"/>
            <a:r>
              <a:rPr lang="pt-BR" sz="2400" dirty="0"/>
              <a:t>Profissionais ou estudantes que atuem, ou tenham experiência, nas áreas tecnologia da informação.</a:t>
            </a:r>
          </a:p>
        </p:txBody>
      </p:sp>
    </p:spTree>
    <p:extLst>
      <p:ext uri="{BB962C8B-B14F-4D97-AF65-F5344CB8AC3E}">
        <p14:creationId xmlns:p14="http://schemas.microsoft.com/office/powerpoint/2010/main" val="3133115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F795F-BDF2-D5F5-8E61-E5D258187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EADB088-71E7-9426-E188-F9FD712DD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QUESTIONÁRIO ESTRUTURADO e TABULAÇÃO DOS DADOS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1C18636-AE26-77C2-6B3F-02E2A0C69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48690"/>
            <a:ext cx="10767060" cy="501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68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6253-C594-B6DF-10AD-062C3B23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36BFE74-587C-4F8B-A654-F8C31FC47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QUESTIONÁRIO ESTRUTURADO e TABULAÇÃO DOS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C40718-B011-F2DC-43FC-90EDFFCD1570}"/>
              </a:ext>
            </a:extLst>
          </p:cNvPr>
          <p:cNvSpPr txBox="1"/>
          <p:nvPr/>
        </p:nvSpPr>
        <p:spPr>
          <a:xfrm>
            <a:off x="225742" y="5270838"/>
            <a:ext cx="1183290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dirty="0"/>
              <a:t>Resumo da análise de resultados:</a:t>
            </a:r>
          </a:p>
          <a:p>
            <a:pPr algn="just"/>
            <a:r>
              <a:rPr lang="pt-BR" sz="2200" dirty="0"/>
              <a:t>Observou-se que </a:t>
            </a:r>
            <a:r>
              <a:rPr lang="pt-BR" sz="2200" b="1" dirty="0"/>
              <a:t>70%</a:t>
            </a:r>
            <a:r>
              <a:rPr lang="pt-BR" sz="2200" dirty="0"/>
              <a:t> demonstraram posicionamento contrário ao monitoramento contínuo durante a jornada de trabalho. Já </a:t>
            </a:r>
            <a:r>
              <a:rPr lang="pt-BR" sz="2200" b="1" dirty="0"/>
              <a:t>30%</a:t>
            </a:r>
            <a:r>
              <a:rPr lang="pt-BR" sz="2200" dirty="0"/>
              <a:t> apresentaram respostas interpretadas como maior aceitação ou neutralidade em relação à prática.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0ADB65D-FA17-C887-CD1C-2BD19816E5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9233009"/>
              </p:ext>
            </p:extLst>
          </p:nvPr>
        </p:nvGraphicFramePr>
        <p:xfrm>
          <a:off x="2411730" y="1120140"/>
          <a:ext cx="6789420" cy="3669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61120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2116B-1B6D-7868-360B-2AB757EA5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06A70F1-3F47-0E35-7A65-35F5A1F0B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RESULTADOS PARCIAIS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22F57E-942F-7141-660C-C449767AE147}"/>
              </a:ext>
            </a:extLst>
          </p:cNvPr>
          <p:cNvSpPr txBox="1"/>
          <p:nvPr/>
        </p:nvSpPr>
        <p:spPr>
          <a:xfrm>
            <a:off x="133350" y="657225"/>
            <a:ext cx="1192149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Pesquisa com 10 participantes</a:t>
            </a:r>
          </a:p>
          <a:p>
            <a:r>
              <a:rPr lang="pt-BR" sz="2400" b="1" dirty="0"/>
              <a:t>Principais resultados: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60% já utilizaram softwares executados em segundo plano.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70% demonstraram percepção negativa em relação ao monitoramento.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80% afirmaram que mudariam seu comportamento ao saber que estão sendo monitorados.</a:t>
            </a:r>
          </a:p>
          <a:p>
            <a:endParaRPr lang="pt-BR" sz="2400" dirty="0"/>
          </a:p>
          <a:p>
            <a:r>
              <a:rPr lang="pt-BR" sz="2400" b="1" dirty="0"/>
              <a:t>Destaques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O registro do tempo de atividade de trabalho foi o mecanismo mais aceito.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Predominou uma percepção de desconfiança em relação ao tratamento dos dados pelas empresas.</a:t>
            </a:r>
          </a:p>
          <a:p>
            <a:endParaRPr lang="pt-BR" sz="2400" dirty="0"/>
          </a:p>
          <a:p>
            <a:r>
              <a:rPr lang="pt-BR" sz="2400" b="1" dirty="0"/>
              <a:t>Conclusão Parcial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O monitoramento pode afetar a sensação de privacidade e influenciar o comportamento dos trabalhadores.</a:t>
            </a:r>
          </a:p>
        </p:txBody>
      </p:sp>
    </p:spTree>
    <p:extLst>
      <p:ext uri="{BB962C8B-B14F-4D97-AF65-F5344CB8AC3E}">
        <p14:creationId xmlns:p14="http://schemas.microsoft.com/office/powerpoint/2010/main" val="113151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A4870-912E-4646-05F1-65437F01F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CB82D4C-499E-30C0-B413-289D9E2EA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PERFIL DO USUÁRIO, PERSONAS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262548-66DE-D4E6-4036-D8DB51B2017D}"/>
              </a:ext>
            </a:extLst>
          </p:cNvPr>
          <p:cNvSpPr txBox="1"/>
          <p:nvPr/>
        </p:nvSpPr>
        <p:spPr>
          <a:xfrm>
            <a:off x="133350" y="657225"/>
            <a:ext cx="11921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Esta andamento</a:t>
            </a:r>
            <a:endParaRPr lang="pt-BR" sz="2400" dirty="0"/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C82F1B90-00B6-EE56-2E74-3F1ED5DE72C1}"/>
              </a:ext>
            </a:extLst>
          </p:cNvPr>
          <p:cNvSpPr txBox="1">
            <a:spLocks/>
          </p:cNvSpPr>
          <p:nvPr/>
        </p:nvSpPr>
        <p:spPr>
          <a:xfrm>
            <a:off x="133350" y="3178334"/>
            <a:ext cx="11921490" cy="501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OBRIGADO!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2734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BF97C-93C7-389B-EB02-F6C4875C7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178C461-48F7-4CC3-C7B1-902CF65DB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64478"/>
            <a:ext cx="11921490" cy="501332"/>
          </a:xfrm>
        </p:spPr>
        <p:txBody>
          <a:bodyPr>
            <a:normAutofit/>
          </a:bodyPr>
          <a:lstStyle/>
          <a:p>
            <a:r>
              <a:rPr lang="pt-BR" dirty="0"/>
              <a:t>REFERÊNCIAS 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412B7D-0126-4C03-0210-D8F56F167DCC}"/>
              </a:ext>
            </a:extLst>
          </p:cNvPr>
          <p:cNvSpPr txBox="1"/>
          <p:nvPr/>
        </p:nvSpPr>
        <p:spPr>
          <a:xfrm>
            <a:off x="133350" y="657225"/>
            <a:ext cx="119214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BBC </a:t>
            </a:r>
            <a:r>
              <a:rPr lang="pt-BR" sz="2400"/>
              <a:t>NEWS</a:t>
            </a:r>
            <a:r>
              <a:rPr lang="pt-BR" sz="2400" dirty="0"/>
              <a:t>. Meta employees monitored through internal AI training </a:t>
            </a:r>
            <a:r>
              <a:rPr lang="pt-BR" sz="2400"/>
              <a:t>program</a:t>
            </a:r>
            <a:r>
              <a:rPr lang="pt-BR" sz="2400" dirty="0"/>
              <a:t>. Disponível em: https://www.bbc.com/news/</a:t>
            </a:r>
            <a:r>
              <a:rPr lang="pt-BR" sz="2400"/>
              <a:t>articles</a:t>
            </a:r>
            <a:r>
              <a:rPr lang="pt-BR" sz="2400" dirty="0"/>
              <a:t>/cvglyklz49jo.</a:t>
            </a:r>
          </a:p>
          <a:p>
            <a:endParaRPr lang="pt-BR" sz="2400" dirty="0"/>
          </a:p>
          <a:p>
            <a:r>
              <a:rPr lang="pt-BR" sz="2400" dirty="0"/>
              <a:t>BENYON, D. Interação Humano-Computador. Capítulo 2: PACT – um framework para o design de sistemas interativos.  </a:t>
            </a:r>
          </a:p>
          <a:p>
            <a:endParaRPr lang="pt-BR" sz="2400" dirty="0"/>
          </a:p>
          <a:p>
            <a:r>
              <a:rPr lang="pt-BR" sz="2400" dirty="0"/>
              <a:t>CNN BRASIL. Ferramenta da Meta rastreia cliques do mouse de funcionários. Disponível em: https://www.cnnbrasil.com.br/tecnologia/ferramenta-da-meta-rastreia-cliques-do-mouse-de-funcionarios/. </a:t>
            </a:r>
          </a:p>
          <a:p>
            <a:endParaRPr lang="pt-BR" sz="2400" dirty="0"/>
          </a:p>
          <a:p>
            <a:r>
              <a:rPr lang="pt-BR" sz="2400" dirty="0"/>
              <a:t>RODRIGUEZ, Carla Lopes. Interação Humano-Computador – Aula 08: Entendendo o espaço do problema (PACT). Programa de Pós-Graduação em Ciência da Computação, UFABC, 2026. </a:t>
            </a:r>
          </a:p>
        </p:txBody>
      </p:sp>
    </p:spTree>
    <p:extLst>
      <p:ext uri="{BB962C8B-B14F-4D97-AF65-F5344CB8AC3E}">
        <p14:creationId xmlns:p14="http://schemas.microsoft.com/office/powerpoint/2010/main" val="24496481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715</Words>
  <Application>Microsoft Macintosh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Fábio Ferreira de Assis</dc:creator>
  <cp:lastModifiedBy>Fábio Ferreira de Assis</cp:lastModifiedBy>
  <cp:revision>5</cp:revision>
  <dcterms:created xsi:type="dcterms:W3CDTF">2026-07-15T14:17:19Z</dcterms:created>
  <dcterms:modified xsi:type="dcterms:W3CDTF">2026-07-15T15:53:06Z</dcterms:modified>
</cp:coreProperties>
</file>